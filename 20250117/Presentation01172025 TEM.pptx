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74" r:id="rId7"/>
    <p:sldId id="320" r:id="rId8"/>
    <p:sldId id="325" r:id="rId9"/>
    <p:sldId id="326" r:id="rId10"/>
    <p:sldId id="327" r:id="rId11"/>
    <p:sldId id="32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39BA0-B22E-42BB-939A-4F111BF3BCA2}" v="44" dt="2024-06-12T14:45:44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88816-2E84-4A28-9F15-CA3A7D08D54B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0940D-C093-474C-82F8-B1BC59034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8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E1699-D681-4E8C-96D4-2406A91B3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54669-23CA-42F2-B128-23B4D2DA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35D2D-C27B-4977-AB9C-D0ACE917A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015551-8AA0-4E12-90F8-85E8AF9FE8C3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AE20C-E97A-44E7-A0EF-78D0EC2E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7F4D8-853C-43BA-B244-1F9E0BB1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4BF209A-B398-4BC6-80A6-E1AB41AB8E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9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AFF4-F6F7-4EE2-837A-E0E35D7C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A396A-51B0-48AA-B331-630A6289A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39E8-C6AC-4561-8473-382B05857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238C4-4B1E-4C4E-A518-FD57E5B7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72A1-797F-4276-9F83-A0AC43B5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1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3823-1FD7-4F2A-9C8F-C7014D34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80E6-8A8A-40A6-A039-49058C2C1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0AF0-90C4-4041-AE58-89A547A4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82E2E-2FCB-43C9-A826-DAA7C800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D964-46B5-4230-B30D-F9725B1E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1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C32F-A9FF-4254-BA9A-6C5E2FC2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92BD-68DB-471B-889C-A43F472B3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8E4B3-24FD-45F1-9F69-0C26568E0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49794-AEA4-4D1B-927E-BC2C5512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A740B-81DA-4CF9-A605-9CD5E85AC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181EC-0FF5-4FA8-8D5A-959CF226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4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A74A-08EA-4BC4-BD3B-F7206C72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0F857-1A0C-4003-BF5E-E7854F7B8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52B03-170F-4698-8D78-57F967219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34BC2-BBCE-48B7-9B83-F4E5E772B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83EB8-56A7-438B-A632-5BDB51B93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219CA-532C-454B-A4D4-C2B8370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C04B5-A72D-478C-95D8-81B8C654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3FF9A-D77A-4A84-9533-384D327E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0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E6B1-11DB-4B6C-B177-8D7A8212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1F64A-3AA7-4743-B8CD-5DCC4FE9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3D4DE-186E-4719-92C8-6116E386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41974-3285-4C92-8F17-3C231FDE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7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9CACE-A7E2-4F92-9EBE-306E8335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CF8AD-6833-4EB7-8D21-49C6E90F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BB819-9CE5-48D7-A07F-3E4298F6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BCF0-D40C-4EBC-9578-E46F7585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EBD6-8660-4F12-922E-2CB5934B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0759D-225C-44BF-A5E7-0F1A6124F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B9E8D-012A-4CB0-9A35-5A214A4D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D735-E3B2-4087-A207-42B07D34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51B84-499B-486F-8A8C-AE50E84C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0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C58A-2952-4E3F-B931-C0BB65F6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6C6A8-A798-40E4-8B84-878271385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6910A-F774-4B13-ADF1-10955A450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A17BF-7064-4D94-9304-23B598DF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74288-8E0B-4FC6-9D81-F37B1164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33F15-CFE2-4D82-8AD6-56D18C9B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2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85A2-3401-4FA2-AC2A-C79609BE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0E867-0F6C-4E42-9EA9-74E2B7AF9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6B62-4BAB-4558-8D53-CF0685B8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DEFED-1785-4AA9-8E3B-F62761DB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FE2B1-434A-47CC-BB06-CC2A39EF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6C9AD-7FCA-49D5-8B9A-1CC5438F5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CB38F-04C0-4674-AB4A-F7923C89C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16DA3-66DD-4A9F-B9E6-1E5F5B93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3BC2-07D0-4E37-86A3-989C2839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DFA58-539F-40FB-9E93-B88AE3D4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ECF41-63E9-4A5C-A88E-17725672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7D5D0-9DD5-48C2-B158-D3564875C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BC012-BCFC-4470-ADAC-D84128FD7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15551-8AA0-4E12-90F8-85E8AF9FE8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5C69-DE23-4FE5-B3FB-F6798E579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770D9-08EE-4C1D-B98E-BEB97888E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F209A-B398-4BC6-80A6-E1AB41AB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8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3E5CE2-756F-471A-B4F9-B071F843F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857834"/>
              </p:ext>
            </p:extLst>
          </p:nvPr>
        </p:nvGraphicFramePr>
        <p:xfrm>
          <a:off x="267128" y="-4885"/>
          <a:ext cx="11315272" cy="6192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3424">
                  <a:extLst>
                    <a:ext uri="{9D8B030D-6E8A-4147-A177-3AD203B41FA5}">
                      <a16:colId xmlns:a16="http://schemas.microsoft.com/office/drawing/2014/main" val="2962685223"/>
                    </a:ext>
                  </a:extLst>
                </a:gridCol>
                <a:gridCol w="8401848">
                  <a:extLst>
                    <a:ext uri="{9D8B030D-6E8A-4147-A177-3AD203B41FA5}">
                      <a16:colId xmlns:a16="http://schemas.microsoft.com/office/drawing/2014/main" val="114747430"/>
                    </a:ext>
                  </a:extLst>
                </a:gridCol>
              </a:tblGrid>
              <a:tr h="910435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Analytical Report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016344"/>
                  </a:ext>
                </a:extLst>
              </a:tr>
              <a:tr h="347163">
                <a:tc>
                  <a:txBody>
                    <a:bodyPr/>
                    <a:lstStyle/>
                    <a:p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TEM/STEM/EDS Analysis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104228"/>
                  </a:ext>
                </a:extLst>
              </a:tr>
              <a:tr h="347163">
                <a:tc>
                  <a:txBody>
                    <a:bodyPr/>
                    <a:lstStyle/>
                    <a:p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Gayan Karunasinghe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21562"/>
                  </a:ext>
                </a:extLst>
              </a:tr>
              <a:tr h="347163">
                <a:tc>
                  <a:txBody>
                    <a:bodyPr/>
                    <a:lstStyle/>
                    <a:p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#: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LF501RD0001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852596"/>
                  </a:ext>
                </a:extLst>
              </a:tr>
              <a:tr h="34716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Requestor: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Kelvin Oliver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926742"/>
                  </a:ext>
                </a:extLst>
              </a:tr>
              <a:tr h="381879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Executive Summary/Abstract: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sample was prepared using </a:t>
                      </a:r>
                      <a:r>
                        <a:rPr lang="en-US" sz="1600" dirty="0">
                          <a:latin typeface="Arial"/>
                          <a:cs typeface="Arial"/>
                        </a:rPr>
                        <a:t>Drop Casting method (please check the Methods and Parameters in the slide number 2)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The average particle size of the samples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1) 2-123417: 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7.3±3.9 nm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2) 2-123418: 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4.8±1.3 nm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3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15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8917-A5B4-475D-BE3F-F9699A94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8CD3-3282-45CE-BCCC-93A7F9687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334"/>
            <a:ext cx="11178396" cy="4296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Project Name: </a:t>
            </a:r>
            <a:r>
              <a:rPr lang="en-US" sz="2000" dirty="0">
                <a:latin typeface="Arial"/>
                <a:cs typeface="Arial"/>
              </a:rPr>
              <a:t>LF501RD0001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Sample Number: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1) </a:t>
            </a:r>
            <a:r>
              <a:rPr lang="en-US" sz="20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2-123417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                            2) </a:t>
            </a:r>
            <a:r>
              <a:rPr lang="en-US" sz="20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2-123418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Motivation: </a:t>
            </a:r>
            <a:r>
              <a:rPr lang="en-US" sz="2000" dirty="0">
                <a:latin typeface="Arial"/>
                <a:cs typeface="Arial"/>
              </a:rPr>
              <a:t>Determine the particle size distribution of the catalyst sample.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Methods and Parameters:  </a:t>
            </a:r>
            <a:r>
              <a:rPr lang="en-US" sz="2000" dirty="0">
                <a:latin typeface="Arial"/>
                <a:cs typeface="Arial"/>
              </a:rPr>
              <a:t>The sample was prepared using the Drop Casting method. The small amount of catalyst powder (~10 mg) was dissolved in a 100 % ethanol (~5 ml) and  sonicated for 15 minutes. Then, a drop of the solution was put on a copper coated lacey carbon grid and dried the sample. TEM/STEM/EDS was performed on FEI Talos F200X at the University of Kentucky.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65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BADC-D454-4462-B68F-D58887AE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90" y="43715"/>
            <a:ext cx="5996818" cy="50659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STEM images for : </a:t>
            </a:r>
            <a:r>
              <a:rPr lang="en-US" sz="3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2-123417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55251-50C3-A760-7A63-51D89E985056}"/>
              </a:ext>
            </a:extLst>
          </p:cNvPr>
          <p:cNvSpPr txBox="1"/>
          <p:nvPr/>
        </p:nvSpPr>
        <p:spPr>
          <a:xfrm>
            <a:off x="959675" y="5243097"/>
            <a:ext cx="1027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bright spots are Ag particles (HAADF was used, so heavier elements appear bright) and EDS was used to ensure nothing else was present</a:t>
            </a:r>
          </a:p>
        </p:txBody>
      </p:sp>
      <p:pic>
        <p:nvPicPr>
          <p:cNvPr id="7" name="Picture 6" descr="A close-up of a white object&#10;&#10;Description automatically generated">
            <a:extLst>
              <a:ext uri="{FF2B5EF4-FFF2-40B4-BE49-F238E27FC236}">
                <a16:creationId xmlns:a16="http://schemas.microsoft.com/office/drawing/2014/main" id="{49586D9F-8511-6D38-8C47-F18C9297E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5" y="723701"/>
            <a:ext cx="3925004" cy="3925004"/>
          </a:xfrm>
          <a:prstGeom prst="rect">
            <a:avLst/>
          </a:prstGeom>
        </p:spPr>
      </p:pic>
      <p:pic>
        <p:nvPicPr>
          <p:cNvPr id="18" name="Picture 17" descr="A close-up of a microscope&#10;&#10;Description automatically generated">
            <a:extLst>
              <a:ext uri="{FF2B5EF4-FFF2-40B4-BE49-F238E27FC236}">
                <a16:creationId xmlns:a16="http://schemas.microsoft.com/office/drawing/2014/main" id="{B7A758E5-DA1A-9BAF-C919-CCD3E604E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498" y="723701"/>
            <a:ext cx="3925004" cy="3925004"/>
          </a:xfrm>
          <a:prstGeom prst="rect">
            <a:avLst/>
          </a:prstGeom>
        </p:spPr>
      </p:pic>
      <p:pic>
        <p:nvPicPr>
          <p:cNvPr id="20" name="Picture 19" descr="A close-up of a black and white photo of a black and white photo of a black and white photo of a black and white photo of a black and white photo of a black and white&#10;&#10;Description automatically generated">
            <a:extLst>
              <a:ext uri="{FF2B5EF4-FFF2-40B4-BE49-F238E27FC236}">
                <a16:creationId xmlns:a16="http://schemas.microsoft.com/office/drawing/2014/main" id="{5CF5A96A-34AE-0241-D781-641A7DA68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101" y="723701"/>
            <a:ext cx="3925004" cy="392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BADC-D454-4462-B68F-D58887AE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117" y="0"/>
            <a:ext cx="9199765" cy="73614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Particle Size Distribution (PSD) Graph for : 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2-123417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08338-3F7D-86FE-C44E-3A1F96EA3D5D}"/>
              </a:ext>
            </a:extLst>
          </p:cNvPr>
          <p:cNvSpPr txBox="1"/>
          <p:nvPr/>
        </p:nvSpPr>
        <p:spPr>
          <a:xfrm>
            <a:off x="884036" y="6257638"/>
            <a:ext cx="10627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total of 200 particles were analyzed to determine the average particle size of the catalyst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12AAE-DECC-DE0D-AE6B-32D53C3A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88" y="971666"/>
            <a:ext cx="6676921" cy="48708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1DE25-B808-0F11-5F7D-7EE8DBB56A20}"/>
              </a:ext>
            </a:extLst>
          </p:cNvPr>
          <p:cNvSpPr txBox="1"/>
          <p:nvPr/>
        </p:nvSpPr>
        <p:spPr>
          <a:xfrm>
            <a:off x="6341980" y="1540415"/>
            <a:ext cx="3310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Average Particle size: </a:t>
            </a:r>
            <a:r>
              <a:rPr lang="en-US" sz="1600" b="1" dirty="0">
                <a:solidFill>
                  <a:srgbClr val="FF0000"/>
                </a:solidFill>
                <a:cs typeface="Arial"/>
              </a:rPr>
              <a:t>7</a:t>
            </a:r>
            <a:r>
              <a:rPr lang="en-US" sz="1600" b="0" dirty="0">
                <a:solidFill>
                  <a:srgbClr val="FF0000"/>
                </a:solidFill>
                <a:cs typeface="Arial"/>
              </a:rPr>
              <a:t>.3±3.9 nm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8001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6E6A7-00E9-7243-CD4F-81D80088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5883-D22E-8D52-34C4-207BACA8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642" y="129309"/>
            <a:ext cx="7314493" cy="50659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STEM-EDS image for : </a:t>
            </a:r>
            <a:r>
              <a:rPr lang="en-US" sz="3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2-123417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DA4D3-F2B2-F82E-46FB-848AEBD5A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48" y="759331"/>
            <a:ext cx="3084141" cy="276887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43CED6-7E50-D207-0F27-E0D46EF42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356747"/>
              </p:ext>
            </p:extLst>
          </p:nvPr>
        </p:nvGraphicFramePr>
        <p:xfrm>
          <a:off x="4086753" y="1142193"/>
          <a:ext cx="5787618" cy="208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45">
                  <a:extLst>
                    <a:ext uri="{9D8B030D-6E8A-4147-A177-3AD203B41FA5}">
                      <a16:colId xmlns:a16="http://schemas.microsoft.com/office/drawing/2014/main" val="47967663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34140451"/>
                    </a:ext>
                  </a:extLst>
                </a:gridCol>
                <a:gridCol w="2113473">
                  <a:extLst>
                    <a:ext uri="{9D8B030D-6E8A-4147-A177-3AD203B41FA5}">
                      <a16:colId xmlns:a16="http://schemas.microsoft.com/office/drawing/2014/main" val="3933276434"/>
                    </a:ext>
                  </a:extLst>
                </a:gridCol>
              </a:tblGrid>
              <a:tr h="417477">
                <a:tc>
                  <a:txBody>
                    <a:bodyPr/>
                    <a:lstStyle/>
                    <a:p>
                      <a:r>
                        <a:rPr lang="en-US" sz="2000" dirty="0"/>
                        <a:t>Element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Atomic Fraction (%)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Mass Fraction (%)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671274559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6.34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3.80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959413833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59.63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47.64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2620034270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33.35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44.93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486110066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0.67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3.62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170924609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5381032-D79F-E102-E656-60A5BEC0D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47" y="4305592"/>
            <a:ext cx="3177971" cy="24276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6DB73D-2FFA-6842-1B77-F22490989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0949"/>
              </p:ext>
            </p:extLst>
          </p:nvPr>
        </p:nvGraphicFramePr>
        <p:xfrm>
          <a:off x="4086753" y="4475707"/>
          <a:ext cx="5787618" cy="208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45">
                  <a:extLst>
                    <a:ext uri="{9D8B030D-6E8A-4147-A177-3AD203B41FA5}">
                      <a16:colId xmlns:a16="http://schemas.microsoft.com/office/drawing/2014/main" val="47967663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34140451"/>
                    </a:ext>
                  </a:extLst>
                </a:gridCol>
                <a:gridCol w="2113473">
                  <a:extLst>
                    <a:ext uri="{9D8B030D-6E8A-4147-A177-3AD203B41FA5}">
                      <a16:colId xmlns:a16="http://schemas.microsoft.com/office/drawing/2014/main" val="3933276434"/>
                    </a:ext>
                  </a:extLst>
                </a:gridCol>
              </a:tblGrid>
              <a:tr h="417477">
                <a:tc>
                  <a:txBody>
                    <a:bodyPr/>
                    <a:lstStyle/>
                    <a:p>
                      <a:r>
                        <a:rPr lang="en-US" sz="2000" dirty="0"/>
                        <a:t>Element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Atomic Fraction (%)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Mass Fraction (%)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671274559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5.41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3.25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959413833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59.00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47.15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2620034270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35.18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47.41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486110066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0.41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2.20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170924609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0B1D-D7D7-A73D-585B-3A672EE3E7C7}"/>
              </a:ext>
            </a:extLst>
          </p:cNvPr>
          <p:cNvSpPr txBox="1"/>
          <p:nvPr/>
        </p:nvSpPr>
        <p:spPr>
          <a:xfrm>
            <a:off x="267419" y="41807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Spot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83913-3FEC-BAA9-2BAB-77B6574AFAB8}"/>
              </a:ext>
            </a:extLst>
          </p:cNvPr>
          <p:cNvSpPr txBox="1"/>
          <p:nvPr/>
        </p:nvSpPr>
        <p:spPr>
          <a:xfrm>
            <a:off x="280651" y="393626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Spot 2</a:t>
            </a:r>
          </a:p>
        </p:txBody>
      </p:sp>
    </p:spTree>
    <p:extLst>
      <p:ext uri="{BB962C8B-B14F-4D97-AF65-F5344CB8AC3E}">
        <p14:creationId xmlns:p14="http://schemas.microsoft.com/office/powerpoint/2010/main" val="295510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6EB7-F8BE-954D-117B-98772FB4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3D52-4908-8B14-6CFD-A0BEF045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90" y="43715"/>
            <a:ext cx="5996818" cy="50659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STEM images for : </a:t>
            </a:r>
            <a:r>
              <a:rPr lang="en-US" sz="3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2-123418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A4A0B-AF48-7EE1-7F5B-815CA00F3B8E}"/>
              </a:ext>
            </a:extLst>
          </p:cNvPr>
          <p:cNvSpPr txBox="1"/>
          <p:nvPr/>
        </p:nvSpPr>
        <p:spPr>
          <a:xfrm>
            <a:off x="959675" y="5243097"/>
            <a:ext cx="1027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bright spots are Ag particles (HAADF was used, so heavier elements appear bright) and EDS was used to ensure nothing else was present</a:t>
            </a:r>
          </a:p>
        </p:txBody>
      </p:sp>
      <p:pic>
        <p:nvPicPr>
          <p:cNvPr id="4" name="Picture 3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97C032F2-58A6-A773-DA98-29B9EB42A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6" y="723702"/>
            <a:ext cx="3925004" cy="3925004"/>
          </a:xfrm>
          <a:prstGeom prst="rect">
            <a:avLst/>
          </a:prstGeom>
        </p:spPr>
      </p:pic>
      <p:pic>
        <p:nvPicPr>
          <p:cNvPr id="6" name="Picture 5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0E538F63-327B-764A-8E9D-EFB985973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666" y="723701"/>
            <a:ext cx="3925004" cy="3925004"/>
          </a:xfrm>
          <a:prstGeom prst="rect">
            <a:avLst/>
          </a:prstGeom>
        </p:spPr>
      </p:pic>
      <p:pic>
        <p:nvPicPr>
          <p:cNvPr id="9" name="Picture 8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F599287F-FA68-5F64-033B-3D7A32CB7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099" y="723700"/>
            <a:ext cx="3925005" cy="392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2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4B18-165A-EA00-92BD-F357E73B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4AC0-28F2-57A0-E1B8-9EE6829A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117" y="0"/>
            <a:ext cx="9199765" cy="73614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Particle Size Distribution (PSD) Graph for : 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2-123418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F2A84-D711-5AB6-E014-05C5A358D63A}"/>
              </a:ext>
            </a:extLst>
          </p:cNvPr>
          <p:cNvSpPr txBox="1"/>
          <p:nvPr/>
        </p:nvSpPr>
        <p:spPr>
          <a:xfrm>
            <a:off x="884036" y="6257638"/>
            <a:ext cx="10627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total of 200 particles were analyzed to determine the average particle size of the catalyst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B4C1A0-CE96-F63F-63B2-8252B12D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36" y="988190"/>
            <a:ext cx="7035986" cy="5017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798225-D50A-9CFD-C0C3-F38F73EB7C29}"/>
              </a:ext>
            </a:extLst>
          </p:cNvPr>
          <p:cNvSpPr txBox="1"/>
          <p:nvPr/>
        </p:nvSpPr>
        <p:spPr>
          <a:xfrm>
            <a:off x="6095999" y="1600800"/>
            <a:ext cx="3310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Average Particle size: </a:t>
            </a:r>
            <a:r>
              <a:rPr lang="en-US" sz="1600" b="1" dirty="0">
                <a:solidFill>
                  <a:srgbClr val="FF0000"/>
                </a:solidFill>
                <a:cs typeface="Arial"/>
              </a:rPr>
              <a:t>4</a:t>
            </a:r>
            <a:r>
              <a:rPr lang="en-US" sz="1600" b="0" dirty="0">
                <a:solidFill>
                  <a:srgbClr val="FF0000"/>
                </a:solidFill>
                <a:cs typeface="Arial"/>
              </a:rPr>
              <a:t>.8±</a:t>
            </a:r>
            <a:r>
              <a:rPr lang="en-US" sz="1600" dirty="0">
                <a:solidFill>
                  <a:srgbClr val="FF0000"/>
                </a:solidFill>
                <a:cs typeface="Arial"/>
              </a:rPr>
              <a:t>1.3</a:t>
            </a:r>
            <a:r>
              <a:rPr lang="en-US" sz="1600" b="0" dirty="0">
                <a:solidFill>
                  <a:srgbClr val="FF0000"/>
                </a:solidFill>
                <a:cs typeface="Arial"/>
              </a:rPr>
              <a:t> nm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0955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AFAF-899E-8A34-458C-86459479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ED90-C71F-BAB4-1358-C6F2D6D1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642" y="129309"/>
            <a:ext cx="7314493" cy="50659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STEM-EDS image for : </a:t>
            </a:r>
            <a:r>
              <a:rPr lang="en-US" sz="3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2-123418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8E3FEA-A3C8-7577-36F2-E1792B1CB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08643"/>
              </p:ext>
            </p:extLst>
          </p:nvPr>
        </p:nvGraphicFramePr>
        <p:xfrm>
          <a:off x="4086753" y="1142193"/>
          <a:ext cx="5787618" cy="208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45">
                  <a:extLst>
                    <a:ext uri="{9D8B030D-6E8A-4147-A177-3AD203B41FA5}">
                      <a16:colId xmlns:a16="http://schemas.microsoft.com/office/drawing/2014/main" val="47967663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34140451"/>
                    </a:ext>
                  </a:extLst>
                </a:gridCol>
                <a:gridCol w="2113473">
                  <a:extLst>
                    <a:ext uri="{9D8B030D-6E8A-4147-A177-3AD203B41FA5}">
                      <a16:colId xmlns:a16="http://schemas.microsoft.com/office/drawing/2014/main" val="3933276434"/>
                    </a:ext>
                  </a:extLst>
                </a:gridCol>
              </a:tblGrid>
              <a:tr h="417477">
                <a:tc>
                  <a:txBody>
                    <a:bodyPr/>
                    <a:lstStyle/>
                    <a:p>
                      <a:r>
                        <a:rPr lang="en-US" sz="2000" dirty="0"/>
                        <a:t>Element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Atomic Fraction (%)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Mass Fraction (%)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671274559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5.41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3.25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959413833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59.00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47.15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2620034270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35.18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47.41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486110066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0.41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2.20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17092460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833488-2B33-FF14-C1A1-B9D966036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09221"/>
              </p:ext>
            </p:extLst>
          </p:nvPr>
        </p:nvGraphicFramePr>
        <p:xfrm>
          <a:off x="4086753" y="4475707"/>
          <a:ext cx="5787618" cy="208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45">
                  <a:extLst>
                    <a:ext uri="{9D8B030D-6E8A-4147-A177-3AD203B41FA5}">
                      <a16:colId xmlns:a16="http://schemas.microsoft.com/office/drawing/2014/main" val="47967663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34140451"/>
                    </a:ext>
                  </a:extLst>
                </a:gridCol>
                <a:gridCol w="2113473">
                  <a:extLst>
                    <a:ext uri="{9D8B030D-6E8A-4147-A177-3AD203B41FA5}">
                      <a16:colId xmlns:a16="http://schemas.microsoft.com/office/drawing/2014/main" val="3933276434"/>
                    </a:ext>
                  </a:extLst>
                </a:gridCol>
              </a:tblGrid>
              <a:tr h="417477">
                <a:tc>
                  <a:txBody>
                    <a:bodyPr/>
                    <a:lstStyle/>
                    <a:p>
                      <a:r>
                        <a:rPr lang="en-US" sz="2000" dirty="0"/>
                        <a:t>Element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Atomic Fraction (%)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Mass Fraction (%)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671274559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3.93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2.33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959413833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60.00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47.46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2620034270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35.55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47.42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3486110066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Ag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0.52</a:t>
                      </a:r>
                    </a:p>
                  </a:txBody>
                  <a:tcPr marL="102940" marR="102940" marT="51470" marB="5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2.78</a:t>
                      </a:r>
                    </a:p>
                  </a:txBody>
                  <a:tcPr marL="102940" marR="102940" marT="51470" marB="51470"/>
                </a:tc>
                <a:extLst>
                  <a:ext uri="{0D108BD9-81ED-4DB2-BD59-A6C34878D82A}">
                    <a16:rowId xmlns:a16="http://schemas.microsoft.com/office/drawing/2014/main" val="170924609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4663ED-9F51-1179-528A-80283F8B3FF4}"/>
              </a:ext>
            </a:extLst>
          </p:cNvPr>
          <p:cNvSpPr txBox="1"/>
          <p:nvPr/>
        </p:nvSpPr>
        <p:spPr>
          <a:xfrm>
            <a:off x="267419" y="41807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Spot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A96AD9-A36B-7F9A-67FA-2F383F08671A}"/>
              </a:ext>
            </a:extLst>
          </p:cNvPr>
          <p:cNvSpPr txBox="1"/>
          <p:nvPr/>
        </p:nvSpPr>
        <p:spPr>
          <a:xfrm>
            <a:off x="280651" y="393626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Spot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9099E0-31E2-D8EC-ED9E-64625E0E2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1" y="787407"/>
            <a:ext cx="2979227" cy="31381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5AC229-C11C-3566-395F-02A77493E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9" y="4318816"/>
            <a:ext cx="2992459" cy="2409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412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98BA7AAB218143A24D0F1E5E664937" ma:contentTypeVersion="6" ma:contentTypeDescription="Create a new document." ma:contentTypeScope="" ma:versionID="97737827e43bdd4e0713076433a9c29f">
  <xsd:schema xmlns:xsd="http://www.w3.org/2001/XMLSchema" xmlns:xs="http://www.w3.org/2001/XMLSchema" xmlns:p="http://schemas.microsoft.com/office/2006/metadata/properties" xmlns:ns2="866dc32e-1aef-4acb-af8f-09b435e6c748" xmlns:ns3="078f59b4-09ac-49cc-8bbd-fcad535aff2e" targetNamespace="http://schemas.microsoft.com/office/2006/metadata/properties" ma:root="true" ma:fieldsID="e0a2ae6dee7a8cf758c7f93aab290a6c" ns2:_="" ns3:_="">
    <xsd:import namespace="866dc32e-1aef-4acb-af8f-09b435e6c748"/>
    <xsd:import namespace="078f59b4-09ac-49cc-8bbd-fcad535aff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dc32e-1aef-4acb-af8f-09b435e6c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8f59b4-09ac-49cc-8bbd-fcad535aff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1EB7D7-4303-4A4E-AA0D-7D6E30A5369D}">
  <ds:schemaRefs>
    <ds:schemaRef ds:uri="078f59b4-09ac-49cc-8bbd-fcad535aff2e"/>
    <ds:schemaRef ds:uri="866dc32e-1aef-4acb-af8f-09b435e6c7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3694C2-1F22-4FE7-84CA-88A2948DB7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EBCD5DF-696D-4D19-9395-6FED253672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Background</vt:lpstr>
      <vt:lpstr>STEM images for : 2-123417</vt:lpstr>
      <vt:lpstr>Particle Size Distribution (PSD) Graph for : 2-123417</vt:lpstr>
      <vt:lpstr>STEM-EDS image for : 2-123417</vt:lpstr>
      <vt:lpstr>STEM images for : 2-123418</vt:lpstr>
      <vt:lpstr>Particle Size Distribution (PSD) Graph for : 2-123418</vt:lpstr>
      <vt:lpstr>STEM-EDS image for : 2-123418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Abrin Schmucker</dc:creator>
  <cp:lastModifiedBy>Gayan Karunasinghe</cp:lastModifiedBy>
  <cp:revision>34</cp:revision>
  <dcterms:created xsi:type="dcterms:W3CDTF">2021-09-24T15:37:25Z</dcterms:created>
  <dcterms:modified xsi:type="dcterms:W3CDTF">2025-03-04T19:20:53Z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0x0101006598BA7AAB218143A24D0F1E5E664937</vt:lpwstr>
  </property>
</Properties>
</file>